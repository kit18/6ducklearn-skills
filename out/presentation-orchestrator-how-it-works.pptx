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recommendation and decision ask. Do not explain the file structure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answer-first executive summary. It should make the adoption logic clear in under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case used through the deck. Stress that it is synthetic and illustrates process, not market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consultant judgment: two plausible frameworks are rejected with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hero proof slide. Point out confidence and gaps before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replaces the framework gallery. The framework changes the recommendation and rejects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as the output of the skill, not just an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proof that the review loop is not ceremonial.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universal superiority. Say this is what the harness is designed to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handles the skeptical executive's limitations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whether the skill is real and validated, while keeping proof claims scoped.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decision readiness and a controlled next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658368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00" b="1">
                <a:solidFill>
                  <a:srgbClr val="00736B"/>
                </a:solidFill>
                <a:latin typeface="Arial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7406640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Use Presentation Orchestrator when AI slide generation must become decision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267712"/>
            <a:ext cx="676656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Arial"/>
              </a:rPr>
              <a:t>The skill is not a slide beautifier. It is a consulting-style harness for decks where a room must approve, choose, fund, stop, or assign.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987552"/>
            <a:ext cx="3520440" cy="2560320"/>
          </a:xfrm>
          <a:prstGeom prst="rect">
            <a:avLst/>
          </a:prstGeom>
          <a:solidFill>
            <a:srgbClr val="E0F2E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987552"/>
            <a:ext cx="54864" cy="256032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1583" y="1097280"/>
            <a:ext cx="330098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019" b="1">
                <a:solidFill>
                  <a:srgbClr val="111827"/>
                </a:solidFill>
                <a:latin typeface="Arial"/>
              </a:rPr>
              <a:t>Decision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1408176"/>
            <a:ext cx="3300984" cy="2084831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0">
                <a:solidFill>
                  <a:srgbClr val="5B6472"/>
                </a:solidFill>
                <a:latin typeface="Arial"/>
              </a:rPr>
              <a:t>Pilot it on high-stakes business decks that need a clear POV, source-aware evidence, rejected paths, red-team rehearsal, and a specific next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886200"/>
            <a:ext cx="21488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968496"/>
            <a:ext cx="20574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Use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2072" y="3886200"/>
            <a:ext cx="21488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1" y="3968496"/>
            <a:ext cx="20574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Avoid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3886200"/>
            <a:ext cx="21488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3968496"/>
            <a:ext cx="20574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Core proof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9752" y="3886200"/>
            <a:ext cx="21488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3968496"/>
            <a:ext cx="20574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Human 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8592" y="3886200"/>
            <a:ext cx="21488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3968496"/>
            <a:ext cx="20574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206240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261103"/>
            <a:ext cx="2039112" cy="45719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111827"/>
                </a:solidFill>
                <a:latin typeface="Arial"/>
              </a:rPr>
              <a:t>approval, strategy, GTM, 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2072" y="4206240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16936" y="4261103"/>
            <a:ext cx="2039112" cy="45719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quick cosmetic formatting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10912" y="4206240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4261103"/>
            <a:ext cx="2039112" cy="45719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case-led deck packet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9752" y="4206240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14616" y="4261103"/>
            <a:ext cx="2039112" cy="45719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judge assumptions and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8592" y="4206240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4261103"/>
            <a:ext cx="2039112" cy="45719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PPTX/PDF + speaker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669280"/>
            <a:ext cx="1060704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220" b="1">
                <a:solidFill>
                  <a:srgbClr val="00736B"/>
                </a:solidFill>
                <a:latin typeface="Arial"/>
              </a:rPr>
              <a:t>Main claim: the skill improves the presenter's decision readiness, not merely slide aesthetics.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6309360"/>
            <a:ext cx="16459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20" b="0">
                <a:solidFill>
                  <a:srgbClr val="5B6472"/>
                </a:solidFill>
                <a:latin typeface="Arial"/>
              </a:rPr>
              <a:t>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skill is worth using only when it can prove a stronger decision deck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301752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19" b="1">
                <a:solidFill>
                  <a:srgbClr val="00736B"/>
                </a:solidFill>
                <a:latin typeface="Arial"/>
              </a:rP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971800" cy="10515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Use the skill as a deck-strategy partner for high-stakes decisions; do not position it as a generic PPT generator.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61872"/>
            <a:ext cx="2057400" cy="32004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344168"/>
            <a:ext cx="19659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Proof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61872"/>
            <a:ext cx="4800600" cy="32004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344168"/>
            <a:ext cx="47091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What it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581912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3944" y="1636776"/>
            <a:ext cx="1947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1">
                <a:solidFill>
                  <a:srgbClr val="111827"/>
                </a:solidFill>
                <a:latin typeface="Arial"/>
              </a:rPr>
              <a:t>1. Decision spine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81912"/>
            <a:ext cx="4800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636776"/>
            <a:ext cx="46908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0">
                <a:solidFill>
                  <a:srgbClr val="5B6472"/>
                </a:solidFill>
                <a:latin typeface="Arial"/>
              </a:rPr>
              <a:t>Turns rough input into an issue question, route card, and explicit ask.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148840"/>
            <a:ext cx="20574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4" y="2203704"/>
            <a:ext cx="1947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1">
                <a:solidFill>
                  <a:srgbClr val="111827"/>
                </a:solidFill>
                <a:latin typeface="Arial"/>
              </a:rPr>
              <a:t>2. Evidence discipline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48840"/>
            <a:ext cx="48006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2203704"/>
            <a:ext cx="46908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0">
                <a:solidFill>
                  <a:srgbClr val="5B6472"/>
                </a:solidFill>
                <a:latin typeface="Arial"/>
              </a:rPr>
              <a:t>Separates user facts, source-backed facts, assumptions, inference, and gaps.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715768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23944" y="2770632"/>
            <a:ext cx="1947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1">
                <a:solidFill>
                  <a:srgbClr val="111827"/>
                </a:solidFill>
                <a:latin typeface="Arial"/>
              </a:rPr>
              <a:t>3. Rehearsal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715768"/>
            <a:ext cx="4800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770632"/>
            <a:ext cx="46908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0">
                <a:solidFill>
                  <a:srgbClr val="5B6472"/>
                </a:solidFill>
                <a:latin typeface="Arial"/>
              </a:rPr>
              <a:t>Forces sponsor, skeptic, operator, and evidence-review objections before final output.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3282696"/>
            <a:ext cx="20574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23944" y="3337560"/>
            <a:ext cx="1947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1">
                <a:solidFill>
                  <a:srgbClr val="111827"/>
                </a:solidFill>
                <a:latin typeface="Arial"/>
              </a:rPr>
              <a:t>4. Verified artifact path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282696"/>
            <a:ext cx="48006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3337560"/>
            <a:ext cx="46908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00" b="0">
                <a:solidFill>
                  <a:srgbClr val="5B6472"/>
                </a:solidFill>
                <a:latin typeface="Arial"/>
              </a:rPr>
              <a:t>This deck is generated reproducibly and validated as PPTX/PDF; package checks pass.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54880"/>
            <a:ext cx="10469880" cy="822960"/>
          </a:xfrm>
          <a:prstGeom prst="rect">
            <a:avLst/>
          </a:prstGeom>
          <a:solidFill>
            <a:srgbClr val="E8ED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754880"/>
            <a:ext cx="54864" cy="822960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864608"/>
            <a:ext cx="102504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019" b="1">
                <a:solidFill>
                  <a:srgbClr val="111827"/>
                </a:solidFill>
                <a:latin typeface="Arial"/>
              </a:rPr>
              <a:t>Consulting-team critique absorbed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75504"/>
            <a:ext cx="10250424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0">
                <a:solidFill>
                  <a:srgbClr val="5B6472"/>
                </a:solidFill>
                <a:latin typeface="Arial"/>
              </a:rPr>
              <a:t>The prior version explained the process. This version uses one synthetic GTM case to prove judgment: selected method, rejected paths, evidence gaps, red-team changes, and readiness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MINI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A messy GTM request becomes a decision question the room can answer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Source: Illustrative synthetic case; no market facts claimed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3154680" cy="3383280"/>
          </a:xfrm>
          <a:prstGeom prst="rect">
            <a:avLst/>
          </a:prstGeom>
          <a:solidFill>
            <a:srgbClr val="FDE3E9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54864" cy="3383280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08176"/>
            <a:ext cx="29352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019" b="1">
                <a:solidFill>
                  <a:srgbClr val="111827"/>
                </a:solidFill>
                <a:latin typeface="Arial"/>
              </a:rPr>
              <a:t>Raw 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19072"/>
            <a:ext cx="2935224" cy="29077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0">
                <a:solidFill>
                  <a:srgbClr val="5B6472"/>
                </a:solidFill>
                <a:latin typeface="Arial"/>
              </a:rPr>
              <a:t>We need a deck on whether to invest in a vertical GTM channel. We have notes, early customer signals, and leadership wants a recommendation next week.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77639" y="2999232"/>
            <a:ext cx="868681" cy="0"/>
          </a:xfrm>
          <a:prstGeom prst="line">
            <a:avLst/>
          </a:prstGeom>
          <a:ln w="203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83480" y="2331720"/>
            <a:ext cx="2331720" cy="1325880"/>
          </a:xfrm>
          <a:prstGeom prst="rect">
            <a:avLst/>
          </a:prstGeom>
          <a:solidFill>
            <a:srgbClr val="E0F2E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2377439"/>
            <a:ext cx="2221991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40" b="1">
                <a:solidFill>
                  <a:srgbClr val="111827"/>
                </a:solidFill>
                <a:latin typeface="Arial"/>
              </a:rPr>
              <a:t>Converted issue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642615"/>
            <a:ext cx="2185415" cy="9418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0">
                <a:solidFill>
                  <a:srgbClr val="5B6472"/>
                </a:solidFill>
                <a:latin typeface="Arial"/>
              </a:rPr>
              <a:t>Should we approve a gated vertical GTM pilot for the next 6 weeks, or defer until stronger evidence exists?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24927" y="2999232"/>
            <a:ext cx="804673" cy="0"/>
          </a:xfrm>
          <a:prstGeom prst="line">
            <a:avLst/>
          </a:prstGeom>
          <a:ln w="2032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366760" y="1298448"/>
            <a:ext cx="3063240" cy="3383280"/>
          </a:xfrm>
          <a:prstGeom prst="rect">
            <a:avLst/>
          </a:prstGeom>
          <a:solidFill>
            <a:srgbClr val="E3F5E8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298448"/>
            <a:ext cx="54864" cy="3383280"/>
          </a:xfrm>
          <a:prstGeom prst="rect">
            <a:avLst/>
          </a:prstGeom>
          <a:solidFill>
            <a:srgbClr val="16803A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408176"/>
            <a:ext cx="284378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019" b="1">
                <a:solidFill>
                  <a:srgbClr val="111827"/>
                </a:solidFill>
                <a:latin typeface="Arial"/>
              </a:rPr>
              <a:t>Decision-ready 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1719072"/>
            <a:ext cx="2843784" cy="29077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0">
                <a:solidFill>
                  <a:srgbClr val="5B6472"/>
                </a:solidFill>
                <a:latin typeface="Arial"/>
              </a:rPr>
              <a:t>Approve a limited pilot with owner, proof gates, and kill criteria. Reject full-scale rollout until pipeline quality, CAC risk, and sales capacity are proven.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10912"/>
            <a:ext cx="201168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93208"/>
            <a:ext cx="192024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5010912"/>
            <a:ext cx="228600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5093208"/>
            <a:ext cx="21945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5010912"/>
            <a:ext cx="23774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5093208"/>
            <a:ext cx="22860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Time box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5010912"/>
            <a:ext cx="23774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5093208"/>
            <a:ext cx="22860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Evidence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5010912"/>
            <a:ext cx="201168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5093208"/>
            <a:ext cx="192024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1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30952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385816"/>
            <a:ext cx="1901952" cy="3383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10" b="1">
                <a:solidFill>
                  <a:srgbClr val="111827"/>
                </a:solidFill>
                <a:latin typeface="Arial"/>
              </a:rPr>
              <a:t>growth leadership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5330952"/>
            <a:ext cx="22860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9504" y="5385816"/>
            <a:ext cx="2176272" cy="3383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10" b="0">
                <a:solidFill>
                  <a:srgbClr val="5B6472"/>
                </a:solidFill>
                <a:latin typeface="Arial"/>
              </a:rPr>
              <a:t>approve / defer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5330952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75504" y="5385816"/>
            <a:ext cx="2267712" cy="3383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10" b="0">
                <a:solidFill>
                  <a:srgbClr val="5B6472"/>
                </a:solidFill>
                <a:latin typeface="Arial"/>
              </a:rPr>
              <a:t>6 weeks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5330952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5385816"/>
            <a:ext cx="2267712" cy="3383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10" b="0">
                <a:solidFill>
                  <a:srgbClr val="5B6472"/>
                </a:solidFill>
                <a:latin typeface="Arial"/>
              </a:rPr>
              <a:t>partial and mixed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5330952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0384" y="5385816"/>
            <a:ext cx="1901952" cy="3383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10" b="0">
                <a:solidFill>
                  <a:srgbClr val="5B6472"/>
                </a:solidFill>
                <a:latin typeface="Arial"/>
              </a:rPr>
              <a:t>decision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ROUTE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skill chooses the decision job before it chooses the framework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Source: methodology-router.md; presentation-diagram-source-catalog.md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34440"/>
            <a:ext cx="10744200" cy="530352"/>
          </a:xfrm>
          <a:prstGeom prst="rect">
            <a:avLst/>
          </a:prstGeom>
          <a:solidFill>
            <a:srgbClr val="E0F2E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234440"/>
            <a:ext cx="54864" cy="530352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380744"/>
            <a:ext cx="2103120" cy="3657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rial"/>
              </a:rPr>
              <a:t>Decision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1380744"/>
            <a:ext cx="8503920" cy="3657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50" b="0">
                <a:solidFill>
                  <a:srgbClr val="5B6472"/>
                </a:solidFill>
                <a:latin typeface="Arial"/>
              </a:rPr>
              <a:t>Approve, reject, or time-box a vertical GTM pilot under thin evidence. The room needs a decision, not a framework tour.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03120"/>
            <a:ext cx="507492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2103120"/>
            <a:ext cx="73152" cy="1078992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5152" y="2212848"/>
            <a:ext cx="932688" cy="256032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276856"/>
            <a:ext cx="841248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31136"/>
            <a:ext cx="3593591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30" b="1">
                <a:solidFill>
                  <a:srgbClr val="111827"/>
                </a:solidFill>
                <a:latin typeface="Arial"/>
              </a:rPr>
              <a:t>Business Model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78608"/>
            <a:ext cx="4690872" cy="4937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Useful later for model design; wrong primary lens for a near-term pilot funding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2103120"/>
            <a:ext cx="5074920" cy="1078992"/>
          </a:xfrm>
          <a:prstGeom prst="rect">
            <a:avLst/>
          </a:prstGeom>
          <a:solidFill>
            <a:srgbClr val="FFFFFF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103120"/>
            <a:ext cx="73152" cy="1078992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31552" y="2212848"/>
            <a:ext cx="932688" cy="256032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77272" y="2276856"/>
            <a:ext cx="841248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31136"/>
            <a:ext cx="3593591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30" b="1">
                <a:solidFill>
                  <a:srgbClr val="111827"/>
                </a:solidFill>
                <a:latin typeface="Arial"/>
              </a:rPr>
              <a:t>Porter Five Forces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78608"/>
            <a:ext cx="4690872" cy="493775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Market structure may matter, but current evidence is too thin for an attractiveness diagnosis.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566160"/>
            <a:ext cx="5074920" cy="1170432"/>
          </a:xfrm>
          <a:prstGeom prst="rect">
            <a:avLst/>
          </a:prstGeom>
          <a:solidFill>
            <a:srgbClr val="E0F2EF"/>
          </a:solidFill>
          <a:ln w="1270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566160"/>
            <a:ext cx="73152" cy="1170432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45152" y="3675887"/>
            <a:ext cx="932688" cy="256032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739896"/>
            <a:ext cx="841248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94176"/>
            <a:ext cx="3593591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30" b="1">
                <a:solidFill>
                  <a:srgbClr val="111827"/>
                </a:solidFill>
                <a:latin typeface="Arial"/>
              </a:rPr>
              <a:t>Issue tree + option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41648"/>
            <a:ext cx="4690872" cy="5852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Compares scale, pilot, and defer against demand, economics, capability, and risk.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3566160"/>
            <a:ext cx="5074920" cy="1170432"/>
          </a:xfrm>
          <a:prstGeom prst="rect">
            <a:avLst/>
          </a:prstGeom>
          <a:solidFill>
            <a:srgbClr val="FFFFFF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3566160"/>
            <a:ext cx="73152" cy="1170432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1552" y="3675887"/>
            <a:ext cx="932688" cy="256032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77272" y="3739896"/>
            <a:ext cx="841248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94176"/>
            <a:ext cx="3593591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30" b="1">
                <a:solidFill>
                  <a:srgbClr val="111827"/>
                </a:solidFill>
                <a:latin typeface="Arial"/>
              </a:rPr>
              <a:t>Evidence ledger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41648"/>
            <a:ext cx="4690872" cy="5852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Keeps user facts, assumptions, inference, and next checks visible before the ask.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46120" y="4956048"/>
            <a:ext cx="0" cy="365760"/>
          </a:xfrm>
          <a:prstGeom prst="line">
            <a:avLst/>
          </a:prstGeom>
          <a:ln w="1651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32520" y="4956048"/>
            <a:ext cx="0" cy="365760"/>
          </a:xfrm>
          <a:prstGeom prst="line">
            <a:avLst/>
          </a:prstGeom>
          <a:ln w="16510">
            <a:solidFill>
              <a:srgbClr val="244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97280" y="5321808"/>
            <a:ext cx="978408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98448" y="5504688"/>
            <a:ext cx="937260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80" b="1">
                <a:solidFill>
                  <a:srgbClr val="111827"/>
                </a:solidFill>
                <a:latin typeface="Arial"/>
              </a:rPr>
              <a:t>Selected route: issue tree frames the decision; option matrix recommends the path; evidence ledger limits overclaiming.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PROOF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evidence ledger turns weak signals into explicit confidence and next checks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Source: deck-output-template.md; harness-loop-contract.md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34440"/>
            <a:ext cx="214884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16736"/>
            <a:ext cx="20574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Claim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15768" y="1234440"/>
            <a:ext cx="118872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316736"/>
            <a:ext cx="109728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Source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04488" y="1234440"/>
            <a:ext cx="91440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1316736"/>
            <a:ext cx="8229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Conf.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8888" y="1234440"/>
            <a:ext cx="242316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316736"/>
            <a:ext cx="233172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Gap /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1234440"/>
            <a:ext cx="2971800" cy="320040"/>
          </a:xfrm>
          <a:prstGeom prst="rect">
            <a:avLst/>
          </a:prstGeom>
          <a:solidFill>
            <a:srgbClr val="172033"/>
          </a:solidFill>
          <a:ln w="889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1316736"/>
            <a:ext cx="28803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Slide implication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554480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609344"/>
            <a:ext cx="203911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111827"/>
                </a:solidFill>
                <a:latin typeface="Arial"/>
              </a:rPr>
              <a:t>Vertical segment shows interest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15768" y="1554480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1609344"/>
            <a:ext cx="107899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user notes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04488" y="1554480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9352" y="1609344"/>
            <a:ext cx="804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18888" y="1554480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1609344"/>
            <a:ext cx="231343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sample biased toward warm prospects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1554480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1609344"/>
            <a:ext cx="28620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ask for pilot, not rollout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121408"/>
            <a:ext cx="214884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176272"/>
            <a:ext cx="203911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111827"/>
                </a:solidFill>
                <a:latin typeface="Arial"/>
              </a:rPr>
              <a:t>Current team can execute pilot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5768" y="2121408"/>
            <a:ext cx="118872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2176272"/>
            <a:ext cx="107899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assumption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04488" y="2121408"/>
            <a:ext cx="9144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9352" y="2176272"/>
            <a:ext cx="804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2121408"/>
            <a:ext cx="242316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3752" y="2176272"/>
            <a:ext cx="231343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owner capacity not confirmed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2048" y="2121408"/>
            <a:ext cx="29718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6912" y="2176272"/>
            <a:ext cx="28620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name owner before 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2688336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2743200"/>
            <a:ext cx="203911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111827"/>
                </a:solidFill>
                <a:latin typeface="Arial"/>
              </a:rPr>
              <a:t>Channel economics may 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15768" y="2688336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70632" y="2743200"/>
            <a:ext cx="107899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inference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04488" y="2688336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59352" y="2743200"/>
            <a:ext cx="804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18888" y="2688336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73752" y="2743200"/>
            <a:ext cx="231343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CAC/payback unproven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42048" y="2688336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96912" y="2743200"/>
            <a:ext cx="28620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define 2 evidence gates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255264"/>
            <a:ext cx="214884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310128"/>
            <a:ext cx="203911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111827"/>
                </a:solidFill>
                <a:latin typeface="Arial"/>
              </a:rPr>
              <a:t>Full rollout is premature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15768" y="3255264"/>
            <a:ext cx="118872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70632" y="3310128"/>
            <a:ext cx="107899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inference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04488" y="3255264"/>
            <a:ext cx="9144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9352" y="3310128"/>
            <a:ext cx="804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8888" y="3255264"/>
            <a:ext cx="242316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73752" y="3310128"/>
            <a:ext cx="231343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proof is not strong enough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42048" y="3255264"/>
            <a:ext cx="2971800" cy="566928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3310128"/>
            <a:ext cx="28620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reject scale-now option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3822191"/>
            <a:ext cx="2148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" y="3877055"/>
            <a:ext cx="203911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111827"/>
                </a:solidFill>
                <a:latin typeface="Arial"/>
              </a:rPr>
              <a:t>Defer loses learning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15768" y="3822191"/>
            <a:ext cx="1188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70632" y="3877055"/>
            <a:ext cx="107899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assumption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04488" y="3822191"/>
            <a:ext cx="914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59352" y="3877055"/>
            <a:ext cx="8046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Medium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18888" y="3822191"/>
            <a:ext cx="2423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73752" y="3877055"/>
            <a:ext cx="231343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opportunity cost unknown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42048" y="3822191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96912" y="3877055"/>
            <a:ext cx="2862072" cy="49377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0">
                <a:solidFill>
                  <a:srgbClr val="5B6472"/>
                </a:solidFill>
                <a:latin typeface="Arial"/>
              </a:rPr>
              <a:t>time-box the pilot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" y="5285232"/>
            <a:ext cx="10287000" cy="457200"/>
          </a:xfrm>
          <a:prstGeom prst="rect">
            <a:avLst/>
          </a:prstGeom>
          <a:solidFill>
            <a:srgbClr val="FDE3E9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2960" y="5285232"/>
            <a:ext cx="54864" cy="457200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9264" y="5431536"/>
            <a:ext cx="210312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rial"/>
              </a:rPr>
              <a:t>What would change our mind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0360" y="5431536"/>
            <a:ext cx="8046720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50" b="0">
                <a:solidFill>
                  <a:srgbClr val="5B6472"/>
                </a:solidFill>
                <a:latin typeface="Arial"/>
              </a:rPr>
              <a:t>If pilot CAC exceeds threshold, owner capacity is unavailable, or pipeline quality fails, the recommendation flips from pilot to defer.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CORE EXHIBIT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selected framework changes the decision: pilot beats scale-now and defer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Source: Illustrative synthetic case; no external market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78608"/>
            <a:ext cx="2011680" cy="676656"/>
          </a:xfrm>
          <a:prstGeom prst="rect">
            <a:avLst/>
          </a:prstGeom>
          <a:solidFill>
            <a:srgbClr val="E0F2E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624327"/>
            <a:ext cx="190195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19" b="1">
                <a:solidFill>
                  <a:srgbClr val="111827"/>
                </a:solidFill>
                <a:latin typeface="Arial"/>
              </a:rPr>
              <a:t>Issue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89503"/>
            <a:ext cx="1865376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40" b="0">
                <a:solidFill>
                  <a:srgbClr val="5B6472"/>
                </a:solidFill>
                <a:latin typeface="Arial"/>
              </a:rPr>
              <a:t>Fund a vertical GTM pilot?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048" y="2916936"/>
            <a:ext cx="393192" cy="0"/>
          </a:xfrm>
          <a:prstGeom prst="line">
            <a:avLst/>
          </a:prstGeom>
          <a:ln w="1651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63240" y="1609344"/>
            <a:ext cx="0" cy="3035808"/>
          </a:xfrm>
          <a:prstGeom prst="line">
            <a:avLst/>
          </a:prstGeom>
          <a:ln w="1270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63240" y="1600200"/>
            <a:ext cx="338328" cy="0"/>
          </a:xfrm>
          <a:prstGeom prst="line">
            <a:avLst/>
          </a:prstGeom>
          <a:ln w="13970">
            <a:solidFill>
              <a:srgbClr val="2446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401568" y="1298448"/>
            <a:ext cx="18288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344168"/>
            <a:ext cx="171907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40" b="1">
                <a:solidFill>
                  <a:srgbClr val="111827"/>
                </a:solidFill>
                <a:latin typeface="Arial"/>
              </a:rPr>
              <a:t>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609344"/>
            <a:ext cx="1682496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Are signals real?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2606040"/>
            <a:ext cx="338328" cy="0"/>
          </a:xfrm>
          <a:prstGeom prst="line">
            <a:avLst/>
          </a:prstGeom>
          <a:ln w="13970">
            <a:solidFill>
              <a:srgbClr val="B4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01568" y="2304288"/>
            <a:ext cx="18288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6432" y="2350008"/>
            <a:ext cx="171907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40" b="1">
                <a:solidFill>
                  <a:srgbClr val="111827"/>
                </a:solidFill>
                <a:latin typeface="Arial"/>
              </a:rPr>
              <a:t>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615184"/>
            <a:ext cx="1682496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Can CAC/payback work?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3611880"/>
            <a:ext cx="338328" cy="0"/>
          </a:xfrm>
          <a:prstGeom prst="line">
            <a:avLst/>
          </a:prstGeom>
          <a:ln w="13970">
            <a:solidFill>
              <a:srgbClr val="168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01568" y="3310128"/>
            <a:ext cx="18288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3355848"/>
            <a:ext cx="171907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40" b="1">
                <a:solidFill>
                  <a:srgbClr val="111827"/>
                </a:solidFill>
                <a:latin typeface="Arial"/>
              </a:rPr>
              <a:t>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621024"/>
            <a:ext cx="1682496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Can team execute?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63240" y="4617720"/>
            <a:ext cx="338328" cy="0"/>
          </a:xfrm>
          <a:prstGeom prst="line">
            <a:avLst/>
          </a:prstGeom>
          <a:ln w="13970">
            <a:solidFill>
              <a:srgbClr val="BD24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401568" y="4315968"/>
            <a:ext cx="18288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361688"/>
            <a:ext cx="171907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40" b="1">
                <a:solidFill>
                  <a:srgbClr val="111827"/>
                </a:solidFill>
                <a:latin typeface="Arial"/>
              </a:rP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626864"/>
            <a:ext cx="1682496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What would kill it?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1298448"/>
            <a:ext cx="43891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00" b="1">
                <a:solidFill>
                  <a:srgbClr val="2446A7"/>
                </a:solidFill>
                <a:latin typeface="Arial"/>
              </a:rPr>
              <a:t>Option readout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1664208"/>
            <a:ext cx="48006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0" y="1664208"/>
            <a:ext cx="73152" cy="786384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1773936"/>
            <a:ext cx="932688" cy="256032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1837943"/>
            <a:ext cx="841248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1792224"/>
            <a:ext cx="331927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30" b="1">
                <a:solidFill>
                  <a:srgbClr val="111827"/>
                </a:solidFill>
                <a:latin typeface="Arial"/>
              </a:rPr>
              <a:t>Scale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6168" y="2139696"/>
            <a:ext cx="4416552" cy="20116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High upside, high risk; evidence does not support rollout.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2743200"/>
            <a:ext cx="4800600" cy="841248"/>
          </a:xfrm>
          <a:prstGeom prst="rect">
            <a:avLst/>
          </a:prstGeom>
          <a:solidFill>
            <a:srgbClr val="E0F2EF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15000" y="2743200"/>
            <a:ext cx="73152" cy="841248"/>
          </a:xfrm>
          <a:prstGeom prst="rect">
            <a:avLst/>
          </a:prstGeom>
          <a:solidFill>
            <a:srgbClr val="16803A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2852928"/>
            <a:ext cx="932688" cy="256032"/>
          </a:xfrm>
          <a:prstGeom prst="rect">
            <a:avLst/>
          </a:prstGeom>
          <a:solidFill>
            <a:srgbClr val="16803A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2916936"/>
            <a:ext cx="841248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RECOMMEND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16168" y="2871216"/>
            <a:ext cx="331927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30" b="1">
                <a:solidFill>
                  <a:srgbClr val="111827"/>
                </a:solidFill>
                <a:latin typeface="Arial"/>
              </a:rPr>
              <a:t>Gated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6168" y="3218688"/>
            <a:ext cx="4416552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Medium upside and controlled risk; fastest path to proof.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3913632"/>
            <a:ext cx="48006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3913632"/>
            <a:ext cx="73152" cy="786384"/>
          </a:xfrm>
          <a:prstGeom prst="rect">
            <a:avLst/>
          </a:prstGeom>
          <a:solidFill>
            <a:srgbClr val="B46A00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72600" y="4023360"/>
            <a:ext cx="932688" cy="256032"/>
          </a:xfrm>
          <a:prstGeom prst="rect">
            <a:avLst/>
          </a:prstGeom>
          <a:solidFill>
            <a:srgbClr val="B46A00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4087368"/>
            <a:ext cx="841248" cy="914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1">
                <a:solidFill>
                  <a:srgbClr val="FFFFFF"/>
                </a:solidFill>
                <a:latin typeface="Arial"/>
              </a:rPr>
              <a:t>BACKUP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16168" y="4041648"/>
            <a:ext cx="331927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30" b="1">
                <a:solidFill>
                  <a:srgbClr val="111827"/>
                </a:solidFill>
                <a:latin typeface="Arial"/>
              </a:rPr>
              <a:t>Defer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6168" y="4389120"/>
            <a:ext cx="4416552" cy="201167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Lowest risk, but delays learning and leaves demand unresolved.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5230368"/>
            <a:ext cx="4800600" cy="512064"/>
          </a:xfrm>
          <a:prstGeom prst="rect">
            <a:avLst/>
          </a:prstGeom>
          <a:solidFill>
            <a:srgbClr val="E3F5E8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15000" y="5230368"/>
            <a:ext cx="54864" cy="512064"/>
          </a:xfrm>
          <a:prstGeom prst="rect">
            <a:avLst/>
          </a:prstGeom>
          <a:solidFill>
            <a:srgbClr val="16803A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61304" y="5376672"/>
            <a:ext cx="21031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rial"/>
              </a:rPr>
              <a:t>Decision logic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376672"/>
            <a:ext cx="25603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50" b="0">
                <a:solidFill>
                  <a:srgbClr val="5B6472"/>
                </a:solidFill>
                <a:latin typeface="Arial"/>
              </a:rPr>
              <a:t>Pilot wins because it buys evidence without buying a false conclusion.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STORYBOARD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deck packet turns analysis into five action-title slides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029968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84048" cy="224028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3" y="1581912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27048"/>
            <a:ext cx="1316736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69" b="1">
                <a:solidFill>
                  <a:srgbClr val="111827"/>
                </a:solidFill>
                <a:latin typeface="Arial"/>
              </a:rPr>
              <a:t>Leadership should approve a gated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947672"/>
            <a:ext cx="1316736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00736B"/>
                </a:solidFill>
                <a:latin typeface="Arial"/>
              </a:rPr>
              <a:t>Decision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185416"/>
            <a:ext cx="1316736" cy="1362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ask, risk,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2542032"/>
            <a:ext cx="164592" cy="0"/>
          </a:xfrm>
          <a:prstGeom prst="line">
            <a:avLst/>
          </a:prstGeom>
          <a:ln w="1270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16352" y="1417320"/>
            <a:ext cx="2029968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417320"/>
            <a:ext cx="384048" cy="224028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1581912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1527048"/>
            <a:ext cx="1316736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69" b="1">
                <a:solidFill>
                  <a:srgbClr val="111827"/>
                </a:solidFill>
                <a:latin typeface="Arial"/>
              </a:rPr>
              <a:t>The issue is learning under thin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1947672"/>
            <a:ext cx="1316736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00736B"/>
                </a:solidFill>
                <a:latin typeface="Arial"/>
              </a:rPr>
              <a:t>Issue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4" y="2185416"/>
            <a:ext cx="1316736" cy="1362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demand, economics, capability, risk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64608" y="2542032"/>
            <a:ext cx="164592" cy="0"/>
          </a:xfrm>
          <a:prstGeom prst="line">
            <a:avLst/>
          </a:prstGeom>
          <a:ln w="1270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84064" y="1417320"/>
            <a:ext cx="2029968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1417320"/>
            <a:ext cx="384048" cy="224028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7" y="1581912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1527048"/>
            <a:ext cx="1316736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69" b="1">
                <a:solidFill>
                  <a:srgbClr val="111827"/>
                </a:solidFill>
                <a:latin typeface="Arial"/>
              </a:rPr>
              <a:t>Evidence supports testing, not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4416" y="1947672"/>
            <a:ext cx="1316736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00736B"/>
                </a:solidFill>
                <a:latin typeface="Arial"/>
              </a:rPr>
              <a:t>Evidence 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2185416"/>
            <a:ext cx="1316736" cy="1362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confidence, gaps, flip criteria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0" y="2542032"/>
            <a:ext cx="164592" cy="0"/>
          </a:xfrm>
          <a:prstGeom prst="line">
            <a:avLst/>
          </a:prstGeom>
          <a:ln w="1270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351775" y="1417320"/>
            <a:ext cx="2029968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5" y="1417320"/>
            <a:ext cx="384048" cy="224028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581912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1527048"/>
            <a:ext cx="1316736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69" b="1">
                <a:solidFill>
                  <a:srgbClr val="111827"/>
                </a:solidFill>
                <a:latin typeface="Arial"/>
              </a:rPr>
              <a:t>Pilot beats scale-now and defer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1947672"/>
            <a:ext cx="1316736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00736B"/>
                </a:solidFill>
                <a:latin typeface="Arial"/>
              </a:rPr>
              <a:t>Option 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2185416"/>
            <a:ext cx="1316736" cy="1362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tradeoffs and decision logic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00032" y="2542032"/>
            <a:ext cx="164592" cy="0"/>
          </a:xfrm>
          <a:prstGeom prst="line">
            <a:avLst/>
          </a:prstGeom>
          <a:ln w="1270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619488" y="1417320"/>
            <a:ext cx="2029968" cy="224028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19488" y="1417320"/>
            <a:ext cx="384048" cy="224028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1581912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1527048"/>
            <a:ext cx="1316736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69" b="1">
                <a:solidFill>
                  <a:srgbClr val="111827"/>
                </a:solidFill>
                <a:latin typeface="Arial"/>
              </a:rPr>
              <a:t>Approval requires gates and kill criteria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1947672"/>
            <a:ext cx="1316736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00736B"/>
                </a:solidFill>
                <a:latin typeface="Arial"/>
              </a:rPr>
              <a:t>Execution 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185416"/>
            <a:ext cx="1316736" cy="1362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owner, gates, next meeting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4434840"/>
            <a:ext cx="10287000" cy="749808"/>
          </a:xfrm>
          <a:prstGeom prst="rect">
            <a:avLst/>
          </a:prstGeom>
          <a:solidFill>
            <a:srgbClr val="E8ED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" y="4434840"/>
            <a:ext cx="54864" cy="749808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3" y="4544568"/>
            <a:ext cx="1006754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019" b="1">
                <a:solidFill>
                  <a:srgbClr val="111827"/>
                </a:solidFill>
                <a:latin typeface="Arial"/>
              </a:rPr>
              <a:t>Presenter packet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3" y="4855464"/>
            <a:ext cx="10067544" cy="27431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0">
                <a:solidFill>
                  <a:srgbClr val="5B6472"/>
                </a:solidFill>
                <a:latin typeface="Arial"/>
              </a:rPr>
              <a:t>The output is not only slide titles. Each page carries a proof standard, speaker note, appendix cue, and known objection so the presenter can rehearse the decision path.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559552"/>
            <a:ext cx="99669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40" b="1">
                <a:solidFill>
                  <a:srgbClr val="00736B"/>
                </a:solidFill>
                <a:latin typeface="Arial"/>
              </a:rPr>
              <a:t>Quality bar: if a slide cannot change the decision, support the ask, or expose a risk, it moves to appendix or disappears.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RED-TEAM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rehearsal loop improves the recommendation before the room reacts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Source: harness-loop-contract.md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1234440" cy="320040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316736"/>
            <a:ext cx="114300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Arial"/>
              </a:rPr>
              <a:t>Persona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2808" y="1234440"/>
            <a:ext cx="2743200" cy="320040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316736"/>
            <a:ext cx="26517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Arial"/>
              </a:rPr>
              <a:t>Tough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234440"/>
            <a:ext cx="6080760" cy="320040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1316736"/>
            <a:ext cx="598932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770" b="1">
                <a:solidFill>
                  <a:srgbClr val="FFFFFF"/>
                </a:solidFill>
                <a:latin typeface="Arial"/>
              </a:rPr>
              <a:t>Revision made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554480"/>
            <a:ext cx="1234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609344"/>
            <a:ext cx="112471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1">
                <a:solidFill>
                  <a:srgbClr val="111827"/>
                </a:solidFill>
                <a:latin typeface="Arial"/>
              </a:rPr>
              <a:t>CFO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92808" y="1554480"/>
            <a:ext cx="27432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7672" y="1609344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What evidence justifies funding?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7" y="1554480"/>
            <a:ext cx="6080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1" y="1609344"/>
            <a:ext cx="597103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Funding ask changed from rollout to time-boxed pilot with kill criteria.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157984"/>
            <a:ext cx="1234440" cy="603504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212848"/>
            <a:ext cx="112471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1">
                <a:solidFill>
                  <a:srgbClr val="111827"/>
                </a:solidFill>
                <a:latin typeface="Arial"/>
              </a:rPr>
              <a:t>Operator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2808" y="2157984"/>
            <a:ext cx="2743200" cy="603504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2" y="2212848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Who owns Monday execution?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7" y="2157984"/>
            <a:ext cx="6080760" cy="603504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1" y="2212848"/>
            <a:ext cx="597103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Added owner confirmation as approval condition.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761488"/>
            <a:ext cx="1234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816352"/>
            <a:ext cx="112471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1">
                <a:solidFill>
                  <a:srgbClr val="111827"/>
                </a:solidFill>
                <a:latin typeface="Arial"/>
              </a:rPr>
              <a:t>Sales leader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92808" y="2761488"/>
            <a:ext cx="27432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47672" y="2816352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Will this distract from current pipeline?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7" y="2761488"/>
            <a:ext cx="60807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1" y="2816352"/>
            <a:ext cx="597103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Added capacity check and pilot scope limit.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364992"/>
            <a:ext cx="1234440" cy="603504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419856"/>
            <a:ext cx="112471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1">
                <a:solidFill>
                  <a:srgbClr val="111827"/>
                </a:solidFill>
                <a:latin typeface="Arial"/>
              </a:rPr>
              <a:t>Evidence reviewer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92808" y="3364992"/>
            <a:ext cx="2743200" cy="603504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47672" y="3419856"/>
            <a:ext cx="263347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Which claims are assumptions?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36007" y="3364992"/>
            <a:ext cx="6080760" cy="603504"/>
          </a:xfrm>
          <a:prstGeom prst="rect">
            <a:avLst/>
          </a:prstGeom>
          <a:solidFill>
            <a:srgbClr val="EEF1F5"/>
          </a:solidFill>
          <a:ln w="635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1" y="3419856"/>
            <a:ext cx="5971032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Ledger now labels source type and confidence on every major claim.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212080"/>
            <a:ext cx="10287000" cy="548640"/>
          </a:xfrm>
          <a:prstGeom prst="rect">
            <a:avLst/>
          </a:prstGeom>
          <a:solidFill>
            <a:srgbClr val="FDE3E9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5212080"/>
            <a:ext cx="54864" cy="548640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3" y="5358384"/>
            <a:ext cx="210312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rial"/>
              </a:rPr>
              <a:t>Why this matters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358384"/>
            <a:ext cx="804672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50" b="0">
                <a:solidFill>
                  <a:srgbClr val="5B6472"/>
                </a:solidFill>
                <a:latin typeface="Arial"/>
              </a:rPr>
              <a:t>The red-team loop is valuable only if it changes the output. Here it changed the ask, the approval conditions, and the confidence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QUALITY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orchestrated deck makes decision-readiness gates explicit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07008"/>
            <a:ext cx="21945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80" b="1">
                <a:solidFill>
                  <a:srgbClr val="5B6472"/>
                </a:solidFill>
                <a:latin typeface="Arial"/>
              </a:rPr>
              <a:t>Generic prompt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207008"/>
            <a:ext cx="25603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80" b="1">
                <a:solidFill>
                  <a:srgbClr val="00736B"/>
                </a:solidFill>
                <a:latin typeface="Arial"/>
              </a:rPr>
              <a:t>Orchestrated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72768"/>
            <a:ext cx="1965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1">
                <a:solidFill>
                  <a:srgbClr val="111827"/>
                </a:solidFill>
                <a:latin typeface="Arial"/>
              </a:rPr>
              <a:t>Decision 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572768"/>
            <a:ext cx="3246120" cy="475488"/>
          </a:xfrm>
          <a:prstGeom prst="rect">
            <a:avLst/>
          </a:prstGeom>
          <a:solidFill>
            <a:srgbClr val="EEF1F5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682495"/>
            <a:ext cx="292608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0">
                <a:solidFill>
                  <a:srgbClr val="5B6472"/>
                </a:solidFill>
                <a:latin typeface="Arial"/>
              </a:rPr>
              <a:t>unclear or buried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7648" y="1810512"/>
            <a:ext cx="420624" cy="0"/>
          </a:xfrm>
          <a:prstGeom prst="line">
            <a:avLst/>
          </a:prstGeom>
          <a:ln w="2032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903720" y="1572768"/>
            <a:ext cx="4251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1682495"/>
            <a:ext cx="38862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111827"/>
                </a:solidFill>
                <a:latin typeface="Arial"/>
              </a:rPr>
              <a:t>approve gated pilot / defer / reject rollout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194560"/>
            <a:ext cx="1965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331720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1">
                <a:solidFill>
                  <a:srgbClr val="111827"/>
                </a:solidFill>
                <a:latin typeface="Arial"/>
              </a:rPr>
              <a:t>Framework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4368" y="2194560"/>
            <a:ext cx="3246120" cy="475488"/>
          </a:xfrm>
          <a:prstGeom prst="rect">
            <a:avLst/>
          </a:prstGeom>
          <a:solidFill>
            <a:srgbClr val="EEF1F5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2304288"/>
            <a:ext cx="292608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0">
                <a:solidFill>
                  <a:srgbClr val="5B6472"/>
                </a:solidFill>
                <a:latin typeface="Arial"/>
              </a:rPr>
              <a:t>decorative model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27648" y="2432304"/>
            <a:ext cx="420624" cy="0"/>
          </a:xfrm>
          <a:prstGeom prst="line">
            <a:avLst/>
          </a:prstGeom>
          <a:ln w="2032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903720" y="2194560"/>
            <a:ext cx="4251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2304288"/>
            <a:ext cx="38862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111827"/>
                </a:solidFill>
                <a:latin typeface="Arial"/>
              </a:rPr>
              <a:t>issue tree selected; BMC and Porter rejected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2816352"/>
            <a:ext cx="1965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953512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1">
                <a:solidFill>
                  <a:srgbClr val="111827"/>
                </a:solidFill>
                <a:latin typeface="Arial"/>
              </a:rPr>
              <a:t>Evidence discipline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16352"/>
            <a:ext cx="3246120" cy="475488"/>
          </a:xfrm>
          <a:prstGeom prst="rect">
            <a:avLst/>
          </a:prstGeom>
          <a:solidFill>
            <a:srgbClr val="EEF1F5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2926080"/>
            <a:ext cx="292608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0">
                <a:solidFill>
                  <a:srgbClr val="5B6472"/>
                </a:solidFill>
                <a:latin typeface="Arial"/>
              </a:rPr>
              <a:t>facts and assumptions mixed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27648" y="3054096"/>
            <a:ext cx="420624" cy="0"/>
          </a:xfrm>
          <a:prstGeom prst="line">
            <a:avLst/>
          </a:prstGeom>
          <a:ln w="2032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903720" y="2816352"/>
            <a:ext cx="4251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168" y="2926080"/>
            <a:ext cx="38862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111827"/>
                </a:solidFill>
                <a:latin typeface="Arial"/>
              </a:rPr>
              <a:t>source type, confidence, gaps, appendix cue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3438144"/>
            <a:ext cx="1965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3575303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1">
                <a:solidFill>
                  <a:srgbClr val="111827"/>
                </a:solidFill>
                <a:latin typeface="Arial"/>
              </a:rPr>
              <a:t>Alternatives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44368" y="3438144"/>
            <a:ext cx="3246120" cy="475488"/>
          </a:xfrm>
          <a:prstGeom prst="rect">
            <a:avLst/>
          </a:prstGeom>
          <a:solidFill>
            <a:srgbClr val="EEF1F5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3547872"/>
            <a:ext cx="292608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0">
                <a:solidFill>
                  <a:srgbClr val="5B6472"/>
                </a:solidFill>
                <a:latin typeface="Arial"/>
              </a:rPr>
              <a:t>single-path story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27648" y="3675887"/>
            <a:ext cx="420624" cy="0"/>
          </a:xfrm>
          <a:prstGeom prst="line">
            <a:avLst/>
          </a:prstGeom>
          <a:ln w="2032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903720" y="3438144"/>
            <a:ext cx="4251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3547872"/>
            <a:ext cx="38862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111827"/>
                </a:solidFill>
                <a:latin typeface="Arial"/>
              </a:rPr>
              <a:t>scale now, gated pilot, defer compared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059936"/>
            <a:ext cx="1965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4197096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1">
                <a:solidFill>
                  <a:srgbClr val="111827"/>
                </a:solidFill>
                <a:latin typeface="Arial"/>
              </a:rPr>
              <a:t>Objections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059936"/>
            <a:ext cx="3246120" cy="475488"/>
          </a:xfrm>
          <a:prstGeom prst="rect">
            <a:avLst/>
          </a:prstGeom>
          <a:solidFill>
            <a:srgbClr val="EEF1F5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4169664"/>
            <a:ext cx="292608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0">
                <a:solidFill>
                  <a:srgbClr val="5B6472"/>
                </a:solidFill>
                <a:latin typeface="Arial"/>
              </a:rPr>
              <a:t>left for Q&amp;A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27648" y="4297680"/>
            <a:ext cx="420624" cy="0"/>
          </a:xfrm>
          <a:prstGeom prst="line">
            <a:avLst/>
          </a:prstGeom>
          <a:ln w="2032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903720" y="4059936"/>
            <a:ext cx="4251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9168" y="4169664"/>
            <a:ext cx="38862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111827"/>
                </a:solidFill>
                <a:latin typeface="Arial"/>
              </a:rPr>
              <a:t>CFO/operator/sales/evidence objections handled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681728"/>
            <a:ext cx="1965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4818888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1">
                <a:solidFill>
                  <a:srgbClr val="111827"/>
                </a:solidFill>
                <a:latin typeface="Arial"/>
              </a:rPr>
              <a:t>Action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44368" y="4681728"/>
            <a:ext cx="3246120" cy="475488"/>
          </a:xfrm>
          <a:prstGeom prst="rect">
            <a:avLst/>
          </a:prstGeom>
          <a:solidFill>
            <a:srgbClr val="EEF1F5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90672" y="4791456"/>
            <a:ext cx="292608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0">
                <a:solidFill>
                  <a:srgbClr val="5B6472"/>
                </a:solidFill>
                <a:latin typeface="Arial"/>
              </a:rPr>
              <a:t>next steps vague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27648" y="4919472"/>
            <a:ext cx="420624" cy="0"/>
          </a:xfrm>
          <a:prstGeom prst="line">
            <a:avLst/>
          </a:prstGeom>
          <a:ln w="20320">
            <a:solidFill>
              <a:srgbClr val="00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903720" y="4681728"/>
            <a:ext cx="42519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4791456"/>
            <a:ext cx="38862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30" b="1">
                <a:solidFill>
                  <a:srgbClr val="111827"/>
                </a:solidFill>
                <a:latin typeface="Arial"/>
              </a:rPr>
              <a:t>owner, proof gates, kill criteria, next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5559552"/>
            <a:ext cx="10378440" cy="438912"/>
          </a:xfrm>
          <a:prstGeom prst="rect">
            <a:avLst/>
          </a:prstGeom>
          <a:solidFill>
            <a:srgbClr val="FFF1C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" y="5559552"/>
            <a:ext cx="54864" cy="438912"/>
          </a:xfrm>
          <a:prstGeom prst="rect">
            <a:avLst/>
          </a:prstGeom>
          <a:solidFill>
            <a:srgbClr val="B46A00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" y="5705856"/>
            <a:ext cx="2103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rial"/>
              </a:rPr>
              <a:t>Proof standard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0360" y="5705856"/>
            <a:ext cx="8138159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50" b="0">
                <a:solidFill>
                  <a:srgbClr val="5B6472"/>
                </a:solidFill>
                <a:latin typeface="Arial"/>
              </a:rPr>
              <a:t>This is a designed readiness comparison, not a claim that every generic AI output fails. A real pilot should test before/after quality on live decks.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ADOPTION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Use the skill for decision decks; keep humans accountable for facts and judgment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3246120" cy="1298448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3246120" cy="128016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64208"/>
            <a:ext cx="28529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40" b="1">
                <a:solidFill>
                  <a:srgbClr val="111827"/>
                </a:solidFill>
                <a:latin typeface="Arial"/>
              </a:rPr>
              <a:t>Use it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11680"/>
            <a:ext cx="285292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strategy, GTM, product, board, investment, roadmap, workshop readout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3246120" cy="1298448"/>
          </a:xfrm>
          <a:prstGeom prst="rect">
            <a:avLst/>
          </a:prstGeom>
          <a:solidFill>
            <a:srgbClr val="FFFFFF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246120" cy="128016"/>
          </a:xfrm>
          <a:prstGeom prst="rect">
            <a:avLst/>
          </a:prstGeom>
          <a:solidFill>
            <a:srgbClr val="BD2445"/>
          </a:solidFill>
          <a:ln w="8890">
            <a:solidFill>
              <a:srgbClr val="BD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64208"/>
            <a:ext cx="28529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40" b="1">
                <a:solidFill>
                  <a:srgbClr val="111827"/>
                </a:solidFill>
                <a:latin typeface="Arial"/>
              </a:rPr>
              <a:t>Do not use it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11680"/>
            <a:ext cx="285292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pure formatting, unverified claims, confidential upload without approval, legal or financial certainty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3246120" cy="1298448"/>
          </a:xfrm>
          <a:prstGeom prst="rect">
            <a:avLst/>
          </a:prstGeom>
          <a:solidFill>
            <a:srgbClr val="FFFFFF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25880"/>
            <a:ext cx="3246120" cy="128016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664208"/>
            <a:ext cx="2852928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40" b="1">
                <a:solidFill>
                  <a:srgbClr val="111827"/>
                </a:solidFill>
                <a:latin typeface="Arial"/>
              </a:rPr>
              <a:t>Human review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011680"/>
            <a:ext cx="285292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40" b="0">
                <a:solidFill>
                  <a:srgbClr val="5B6472"/>
                </a:solidFill>
                <a:latin typeface="Arial"/>
              </a:rPr>
              <a:t>facts, source permission, assumptions, recommendations, risk tolerance, final business decision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337560"/>
            <a:ext cx="10241280" cy="1024128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639312"/>
            <a:ext cx="109728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00" b="1">
                <a:solidFill>
                  <a:srgbClr val="00736B"/>
                </a:solidFill>
                <a:latin typeface="Arial"/>
              </a:rPr>
              <a:t>Gate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566160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1">
                <a:solidFill>
                  <a:srgbClr val="111827"/>
                </a:solidFill>
                <a:latin typeface="Arial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840480"/>
            <a:ext cx="169164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audience, decision, evidence, time limit,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66160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1">
                <a:solidFill>
                  <a:srgbClr val="111827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840480"/>
            <a:ext cx="169164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weak proof triggers research-needed or pilot-needed deck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51960" y="3867912"/>
            <a:ext cx="210312" cy="0"/>
          </a:xfrm>
          <a:prstGeom prst="line">
            <a:avLst/>
          </a:prstGeom>
          <a:ln w="10160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29400" y="3566160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1">
                <a:solidFill>
                  <a:srgbClr val="111827"/>
                </a:solidFill>
                <a:latin typeface="Arial"/>
              </a:rPr>
              <a:t>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169164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output names approve, reject, pause, test, fund, or assign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3867912"/>
            <a:ext cx="210312" cy="0"/>
          </a:xfrm>
          <a:prstGeom prst="line">
            <a:avLst/>
          </a:prstGeom>
          <a:ln w="10160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78240" y="3566160"/>
            <a:ext cx="1691640" cy="1463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19" b="1">
                <a:solidFill>
                  <a:srgbClr val="111827"/>
                </a:solidFill>
                <a:latin typeface="Arial"/>
              </a:rP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840480"/>
            <a:ext cx="169164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660" b="0">
                <a:solidFill>
                  <a:srgbClr val="5B6472"/>
                </a:solidFill>
                <a:latin typeface="Arial"/>
              </a:rPr>
              <a:t>a person remains accountable for truth and final recommendation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49640" y="3867912"/>
            <a:ext cx="210312" cy="0"/>
          </a:xfrm>
          <a:prstGeom prst="line">
            <a:avLst/>
          </a:prstGeom>
          <a:ln w="10160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68680" y="5166360"/>
            <a:ext cx="10287000" cy="530352"/>
          </a:xfrm>
          <a:prstGeom prst="rect">
            <a:avLst/>
          </a:prstGeom>
          <a:solidFill>
            <a:srgbClr val="FFF1C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5166360"/>
            <a:ext cx="54864" cy="530352"/>
          </a:xfrm>
          <a:prstGeom prst="rect">
            <a:avLst/>
          </a:prstGeom>
          <a:solidFill>
            <a:srgbClr val="B46A00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3" y="5312664"/>
            <a:ext cx="2103120" cy="3657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rial"/>
              </a:rPr>
              <a:t>Operating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312664"/>
            <a:ext cx="8046720" cy="365759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50" b="0">
                <a:solidFill>
                  <a:srgbClr val="5B6472"/>
                </a:solidFill>
                <a:latin typeface="Arial"/>
              </a:rPr>
              <a:t>The skill can structure the work and expose gaps; it cannot manufacture proof, replace source review, or own the business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The artifact path is reproducible and current package checks 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95097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00" b="0">
                <a:solidFill>
                  <a:srgbClr val="5B6472"/>
                </a:solidFill>
                <a:latin typeface="Arial"/>
              </a:rPr>
              <a:t>Source: local repo validation on 2026-06-26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19202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0200"/>
            <a:ext cx="292608" cy="914400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947672"/>
            <a:ext cx="164592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19072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30" b="1">
                <a:solidFill>
                  <a:srgbClr val="111827"/>
                </a:solidFill>
                <a:latin typeface="Arial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93392"/>
            <a:ext cx="129844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80" b="0">
                <a:solidFill>
                  <a:srgbClr val="5B6472"/>
                </a:solidFill>
                <a:latin typeface="Arial"/>
              </a:rPr>
              <a:t>python-pptx wrote the PPTX artifact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2057400"/>
            <a:ext cx="182879" cy="0"/>
          </a:xfrm>
          <a:prstGeom prst="line">
            <a:avLst/>
          </a:prstGeom>
          <a:ln w="12700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34639" y="1600200"/>
            <a:ext cx="19202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39" y="1600200"/>
            <a:ext cx="292608" cy="91440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7" y="1947672"/>
            <a:ext cx="164592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1" y="1719072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30" b="1">
                <a:solidFill>
                  <a:srgbClr val="111827"/>
                </a:solidFill>
                <a:latin typeface="Arial"/>
              </a:rPr>
              <a:t>Render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1" y="1993392"/>
            <a:ext cx="129844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80" b="0">
                <a:solidFill>
                  <a:srgbClr val="5B6472"/>
                </a:solidFill>
                <a:latin typeface="Arial"/>
              </a:rPr>
              <a:t>LibreOffice exported a matching PDF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54879" y="2057400"/>
            <a:ext cx="182880" cy="0"/>
          </a:xfrm>
          <a:prstGeom prst="line">
            <a:avLst/>
          </a:prstGeom>
          <a:ln w="12700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10912" y="1600200"/>
            <a:ext cx="19202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10912" y="1600200"/>
            <a:ext cx="292608" cy="914400"/>
          </a:xfrm>
          <a:prstGeom prst="rect">
            <a:avLst/>
          </a:prstGeom>
          <a:solidFill>
            <a:srgbClr val="16803A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947672"/>
            <a:ext cx="164592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3" y="1719072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30" b="1">
                <a:solidFill>
                  <a:srgbClr val="111827"/>
                </a:solidFill>
                <a:latin typeface="Arial"/>
              </a:rPr>
              <a:t>Inspect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3" y="1993392"/>
            <a:ext cx="129844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80" b="0">
                <a:solidFill>
                  <a:srgbClr val="5B6472"/>
                </a:solidFill>
                <a:latin typeface="Arial"/>
              </a:rPr>
              <a:t>contact sheet reviewed after export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31152" y="2057400"/>
            <a:ext cx="182879" cy="0"/>
          </a:xfrm>
          <a:prstGeom prst="line">
            <a:avLst/>
          </a:prstGeom>
          <a:ln w="12700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187183" y="1600200"/>
            <a:ext cx="19202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87183" y="1600200"/>
            <a:ext cx="292608" cy="914400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1192" y="1947672"/>
            <a:ext cx="164592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1719072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30" b="1">
                <a:solidFill>
                  <a:srgbClr val="111827"/>
                </a:solidFill>
                <a:latin typeface="Arial"/>
              </a:rPr>
              <a:t>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6096" y="1993392"/>
            <a:ext cx="129844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80" b="0">
                <a:solidFill>
                  <a:srgbClr val="5B6472"/>
                </a:solidFill>
                <a:latin typeface="Arial"/>
              </a:rPr>
              <a:t>release:check passed for 11 skills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07424" y="2057400"/>
            <a:ext cx="182880" cy="0"/>
          </a:xfrm>
          <a:prstGeom prst="line">
            <a:avLst/>
          </a:prstGeom>
          <a:ln w="12700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363456" y="1600200"/>
            <a:ext cx="19202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63456" y="1600200"/>
            <a:ext cx="292608" cy="914400"/>
          </a:xfrm>
          <a:prstGeom prst="rect">
            <a:avLst/>
          </a:prstGeom>
          <a:solidFill>
            <a:srgbClr val="B46A00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27464" y="1947672"/>
            <a:ext cx="164592" cy="1097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719072"/>
            <a:ext cx="128016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30" b="1">
                <a:solidFill>
                  <a:srgbClr val="111827"/>
                </a:solidFill>
                <a:latin typeface="Arial"/>
              </a:rPr>
              <a:t>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1993392"/>
            <a:ext cx="1298448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680" b="0">
                <a:solidFill>
                  <a:srgbClr val="5B6472"/>
                </a:solidFill>
                <a:latin typeface="Arial"/>
              </a:rPr>
              <a:t>reader signals feed research, not runtime routing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246120"/>
            <a:ext cx="1019556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568" y="3474720"/>
            <a:ext cx="1874519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19" b="1">
                <a:solidFill>
                  <a:srgbClr val="00736B"/>
                </a:solidFill>
                <a:latin typeface="Arial"/>
              </a:rPr>
              <a:t>What this proves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3456432"/>
            <a:ext cx="7936992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19" b="1">
                <a:solidFill>
                  <a:srgbClr val="111827"/>
                </a:solidFill>
                <a:latin typeface="Arial"/>
              </a:rPr>
              <a:t>The deck artifact, source references, and public skill package are reproducible and locally validated.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3822191"/>
            <a:ext cx="7936992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30" b="0">
                <a:solidFill>
                  <a:srgbClr val="5B6472"/>
                </a:solidFill>
                <a:latin typeface="Arial"/>
              </a:rPr>
              <a:t>It does not prove every future recommendation is true; facts, source permissions, and business judgment still require human review.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5166360"/>
            <a:ext cx="10287000" cy="512064"/>
          </a:xfrm>
          <a:prstGeom prst="rect">
            <a:avLst/>
          </a:prstGeom>
          <a:solidFill>
            <a:srgbClr val="FFF1CF"/>
          </a:solidFill>
          <a:ln w="8890">
            <a:solidFill>
              <a:srgbClr val="B9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" y="5166360"/>
            <a:ext cx="54864" cy="512064"/>
          </a:xfrm>
          <a:prstGeom prst="rect">
            <a:avLst/>
          </a:prstGeom>
          <a:solidFill>
            <a:srgbClr val="B46A00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3" y="5312664"/>
            <a:ext cx="21031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80" b="1">
                <a:solidFill>
                  <a:srgbClr val="111827"/>
                </a:solidFill>
                <a:latin typeface="Arial"/>
              </a:rPr>
              <a:t>Scope of proof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5312664"/>
            <a:ext cx="80467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50" b="0">
                <a:solidFill>
                  <a:srgbClr val="5B6472"/>
                </a:solidFill>
                <a:latin typeface="Arial"/>
              </a:rPr>
              <a:t>Technical validation proves package integrity and renderability. Advisory quality is validated only through evidence review and live before/after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5603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20" b="1">
                <a:solidFill>
                  <a:srgbClr val="00736B"/>
                </a:solidFill>
                <a:latin typeface="Arial"/>
              </a:rPr>
              <a:t>DECISION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24128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920" b="1">
                <a:solidFill>
                  <a:srgbClr val="111827"/>
                </a:solidFill>
                <a:latin typeface="Arial"/>
              </a:rPr>
              <a:t>Decision readiness is the success measure, not slide count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55680" cy="0"/>
          </a:xfrm>
          <a:prstGeom prst="line">
            <a:avLst/>
          </a:prstGeom>
          <a:ln w="8890">
            <a:solidFill>
              <a:srgbClr val="D8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15600" y="6473952"/>
            <a:ext cx="114300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700" b="1">
                <a:solidFill>
                  <a:srgbClr val="5B6472"/>
                </a:solidFill>
                <a:latin typeface="Arial"/>
              </a:rPr>
              <a:t>6ducklearn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25880"/>
            <a:ext cx="10771632" cy="1051560"/>
          </a:xfrm>
          <a:prstGeom prst="rect">
            <a:avLst/>
          </a:prstGeom>
          <a:solidFill>
            <a:srgbClr val="00736B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20574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rial"/>
              </a:rPr>
              <a:t>Final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17904"/>
            <a:ext cx="8183879" cy="29260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Use the skill when the cost of a weak deck is a weak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38528"/>
            <a:ext cx="8183879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rial"/>
              </a:rPr>
              <a:t>Unclear ask, late objections, hidden assumptions, or no accountable next owner.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907792"/>
            <a:ext cx="3200400" cy="1170432"/>
          </a:xfrm>
          <a:prstGeom prst="rect">
            <a:avLst/>
          </a:prstGeom>
          <a:solidFill>
            <a:srgbClr val="FFFFFF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907792"/>
            <a:ext cx="3200400" cy="109728"/>
          </a:xfrm>
          <a:prstGeom prst="rect">
            <a:avLst/>
          </a:prstGeom>
          <a:solidFill>
            <a:srgbClr val="2446A7"/>
          </a:solidFill>
          <a:ln w="8890">
            <a:solidFill>
              <a:srgbClr val="244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27889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10" b="1">
                <a:solidFill>
                  <a:srgbClr val="111827"/>
                </a:solidFill>
                <a:latin typeface="Arial"/>
              </a:rPr>
              <a:t>1. Decision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9584"/>
            <a:ext cx="278892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approve / reject / test is explicit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7136" y="2907792"/>
            <a:ext cx="3200400" cy="1170432"/>
          </a:xfrm>
          <a:prstGeom prst="rect">
            <a:avLst/>
          </a:prstGeom>
          <a:solidFill>
            <a:srgbClr val="FFFFFF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7136" y="2907792"/>
            <a:ext cx="3200400" cy="109728"/>
          </a:xfrm>
          <a:prstGeom prst="rect">
            <a:avLst/>
          </a:prstGeom>
          <a:solidFill>
            <a:srgbClr val="16803A"/>
          </a:solidFill>
          <a:ln w="889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7" y="3182112"/>
            <a:ext cx="27889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10" b="1">
                <a:solidFill>
                  <a:srgbClr val="111827"/>
                </a:solidFill>
                <a:latin typeface="Arial"/>
              </a:rPr>
              <a:t>2. Evidence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7" y="3529584"/>
            <a:ext cx="278892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source type, confidence, and gaps are visible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2907792"/>
            <a:ext cx="3200400" cy="1170432"/>
          </a:xfrm>
          <a:prstGeom prst="rect">
            <a:avLst/>
          </a:prstGeom>
          <a:solidFill>
            <a:srgbClr val="FFFFFF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3" y="2907792"/>
            <a:ext cx="3200400" cy="109728"/>
          </a:xfrm>
          <a:prstGeom prst="rect">
            <a:avLst/>
          </a:prstGeom>
          <a:solidFill>
            <a:srgbClr val="B46A00"/>
          </a:solidFill>
          <a:ln w="8890">
            <a:solidFill>
              <a:srgbClr val="B4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3182112"/>
            <a:ext cx="278892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910" b="1">
                <a:solidFill>
                  <a:srgbClr val="111827"/>
                </a:solidFill>
                <a:latin typeface="Arial"/>
              </a:rPr>
              <a:t>3. Human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3529584"/>
            <a:ext cx="278892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r>
              <a:rPr sz="770" b="0">
                <a:solidFill>
                  <a:srgbClr val="5B6472"/>
                </a:solidFill>
                <a:latin typeface="Arial"/>
              </a:rPr>
              <a:t>owner, proof gates, and final judgment remain named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" y="4709160"/>
            <a:ext cx="100126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007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4901184"/>
            <a:ext cx="9509760" cy="12801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60" b="1">
                <a:solidFill>
                  <a:srgbClr val="00736B"/>
                </a:solidFill>
                <a:latin typeface="Arial"/>
              </a:rPr>
              <a:t>Pilot rubric: compare 3 real decks to baseline; require &gt;=4/5 on ask, evidence, alternatives, owner, and rehearsal changes.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632704"/>
            <a:ext cx="102412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50" b="1">
                <a:solidFill>
                  <a:srgbClr val="172033"/>
                </a:solidFill>
                <a:latin typeface="Arial"/>
              </a:rPr>
              <a:t>Ship as a public demo artifact; use live before/after evidence before claiming business-outcome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